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6" r:id="rId9"/>
    <p:sldId id="267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87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11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81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2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270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92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39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89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91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96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2E472AF-6538-4491-8F2C-35872AE3F65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B8738467-CBC9-496A-92EE-63DE6F47B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56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F5DD-9C4A-484F-A06A-C4650D282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943554"/>
            <a:ext cx="9966960" cy="2926080"/>
          </a:xfrm>
        </p:spPr>
        <p:txBody>
          <a:bodyPr/>
          <a:lstStyle/>
          <a:p>
            <a:r>
              <a:rPr lang="en-US" dirty="0"/>
              <a:t>AI BASED SUPPLY </a:t>
            </a:r>
            <a:br>
              <a:rPr lang="en-US" dirty="0"/>
            </a:br>
            <a:r>
              <a:rPr lang="en-US" dirty="0"/>
              <a:t>CHAIN MAPPING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D4E0B-DD9F-4401-8E12-F204FCFFF2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Aarya Parua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375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C241-05CE-4608-B3AD-AE59D35C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DF618-6918-4A8C-ABF7-566FCC5B9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00" y="1701800"/>
            <a:ext cx="9872871" cy="4038600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Modern armored vehicles used in India are built from parts sourced across a global, multi-tier supplier network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A crisis in one country can silently propagate through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Tier-1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Tier-2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suppliers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Even "safe" suppliers can be compromised through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hidden ownership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— a company can look domestic but be majority-owned by a state-linked entity in an adversarial country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Manually tracking this across multiple vehicle programs, dozens of suppliers, and ownership chains is slow and error-prone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98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CF27-2B03-4D5C-B48C-BD7A3387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Execution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930CB4-69DE-4988-A575-BDAFDB636A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67006"/>
            <a:ext cx="829617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Ingests supplier, ownership, and Indian-alternate data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Lets the analyst pick a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crisis scenario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(a country/region in conflict)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Detects every supplier exposed to that crisis 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Scores every supplier's risk using a deterministic formula, refined by an AI model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Recommends Indian alternate suppliers for the at-risk ones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Renders all of this as an interactive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00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EDC0-870E-462C-BD2E-0A846282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AA6C71D-81C5-4338-AAE8-3246D869E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35954"/>
              </p:ext>
            </p:extLst>
          </p:nvPr>
        </p:nvGraphicFramePr>
        <p:xfrm>
          <a:off x="885825" y="1695850"/>
          <a:ext cx="9953625" cy="4213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2175411113"/>
                    </a:ext>
                  </a:extLst>
                </a:gridCol>
                <a:gridCol w="6638925">
                  <a:extLst>
                    <a:ext uri="{9D8B030D-6E8A-4147-A177-3AD203B41FA5}">
                      <a16:colId xmlns:a16="http://schemas.microsoft.com/office/drawing/2014/main" val="2304577464"/>
                    </a:ext>
                  </a:extLst>
                </a:gridCol>
              </a:tblGrid>
              <a:tr h="645239">
                <a:tc>
                  <a:txBody>
                    <a:bodyPr/>
                    <a:lstStyle/>
                    <a:p>
                      <a:r>
                        <a:rPr lang="en-US" sz="2000" dirty="0"/>
                        <a:t>FILE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 IT HOLDS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084064"/>
                  </a:ext>
                </a:extLst>
              </a:tr>
              <a:tr h="1189657">
                <a:tc>
                  <a:txBody>
                    <a:bodyPr/>
                    <a:lstStyle/>
                    <a:p>
                      <a:r>
                        <a:rPr lang="en-IN" sz="2400" b="1" dirty="0"/>
                        <a:t>supply_chain.csv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Vehicle → Armored Vehicle → Component → Tier-1 Supplier (+country) → Tier-2 Supplier (+country)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834058"/>
                  </a:ext>
                </a:extLst>
              </a:tr>
              <a:tr h="1189657">
                <a:tc>
                  <a:txBody>
                    <a:bodyPr/>
                    <a:lstStyle/>
                    <a:p>
                      <a:r>
                        <a:rPr lang="en-IN" sz="2400" b="1" dirty="0"/>
                        <a:t>ownership.csv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Supplier → Owner → Owner Type → Owner Country → Stake % → Board Role</a:t>
                      </a:r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Financial Distress Score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75058"/>
                  </a:ext>
                </a:extLst>
              </a:tr>
              <a:tr h="1134964">
                <a:tc>
                  <a:txBody>
                    <a:bodyPr/>
                    <a:lstStyle/>
                    <a:p>
                      <a:r>
                        <a:rPr lang="en-IN" sz="2400" b="1" dirty="0"/>
                        <a:t>indian_alternates.csv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Indian Company → Component Category → Components Supplied → Country → Lead Time in Weeks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499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6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C554-7516-4B86-B738-230DC732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Three-Path Crisis Exposure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FF1A-BFE4-47BD-8E13-F2501B4C8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 supplier is flagged as exposed to the selected crisis country if </a:t>
            </a:r>
            <a:r>
              <a:rPr lang="en-US" sz="2400" b="1" dirty="0">
                <a:solidFill>
                  <a:schemeClr val="tx1"/>
                </a:solidFill>
              </a:rPr>
              <a:t>any</a:t>
            </a:r>
            <a:r>
              <a:rPr lang="en-US" sz="2400" dirty="0">
                <a:solidFill>
                  <a:schemeClr val="tx1"/>
                </a:solidFill>
              </a:rPr>
              <a:t> of these are true: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Direct</a:t>
            </a:r>
            <a:r>
              <a:rPr lang="en-US" sz="2400" dirty="0">
                <a:solidFill>
                  <a:schemeClr val="tx1"/>
                </a:solidFill>
              </a:rPr>
              <a:t> — the supplier itself is located in the crisis country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Tier-2 Dependency</a:t>
            </a:r>
            <a:r>
              <a:rPr lang="en-US" sz="2400" dirty="0">
                <a:solidFill>
                  <a:schemeClr val="tx1"/>
                </a:solidFill>
              </a:rPr>
              <a:t> — the supplier's upstream (Tier-2) supplier is located in the crisis country, so risk propagates </a:t>
            </a:r>
            <a:r>
              <a:rPr lang="en-US" sz="2400" i="1" dirty="0">
                <a:solidFill>
                  <a:schemeClr val="tx1"/>
                </a:solidFill>
              </a:rPr>
              <a:t>up</a:t>
            </a:r>
            <a:r>
              <a:rPr lang="en-US" sz="2400" dirty="0">
                <a:solidFill>
                  <a:schemeClr val="tx1"/>
                </a:solidFill>
              </a:rPr>
              <a:t> the chain even if the Tier-1 supplier itself looks safe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Ownership-Linked</a:t>
            </a:r>
            <a:r>
              <a:rPr lang="en-US" sz="2400" dirty="0">
                <a:solidFill>
                  <a:schemeClr val="tx1"/>
                </a:solidFill>
              </a:rPr>
              <a:t> — the supplier is owned, even partially, by an entity headquartered in the crisis country — regardless of where the supplier physically operates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62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1ECE-6BFE-4A4E-9A42-B2CA7EF8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Supplier Risk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E7D0-D88E-4217-BF62-915645CA8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Score = Base Weight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+ Geopolitical Signal Score   (0–20)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+ Ownership Risk Score        (0–15)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+ Financial Distress Score    (0–10)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+ Concentration Penalty       (0–5)</a:t>
            </a:r>
            <a:endParaRPr lang="en-US" dirty="0"/>
          </a:p>
          <a:p>
            <a:pPr marL="45720" indent="0">
              <a:buNone/>
            </a:pPr>
            <a:r>
              <a:rPr lang="en-US" dirty="0">
                <a:solidFill>
                  <a:srgbClr val="FF0000"/>
                </a:solidFill>
              </a:rPr>
              <a:t>→ ( capped at 100 </a:t>
            </a:r>
            <a:r>
              <a:rPr lang="en-IN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54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28EC43-698F-4F1E-9FDA-D70E0F45A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352084"/>
              </p:ext>
            </p:extLst>
          </p:nvPr>
        </p:nvGraphicFramePr>
        <p:xfrm>
          <a:off x="1071035" y="661642"/>
          <a:ext cx="9876675" cy="5176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295">
                  <a:extLst>
                    <a:ext uri="{9D8B030D-6E8A-4147-A177-3AD203B41FA5}">
                      <a16:colId xmlns:a16="http://schemas.microsoft.com/office/drawing/2014/main" val="1387875355"/>
                    </a:ext>
                  </a:extLst>
                </a:gridCol>
                <a:gridCol w="6716380">
                  <a:extLst>
                    <a:ext uri="{9D8B030D-6E8A-4147-A177-3AD203B41FA5}">
                      <a16:colId xmlns:a16="http://schemas.microsoft.com/office/drawing/2014/main" val="1433334196"/>
                    </a:ext>
                  </a:extLst>
                </a:gridCol>
              </a:tblGrid>
              <a:tr h="750221">
                <a:tc>
                  <a:txBody>
                    <a:bodyPr/>
                    <a:lstStyle/>
                    <a:p>
                      <a:r>
                        <a:rPr lang="en-US" dirty="0"/>
                        <a:t>TERM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REPRESENTS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788119"/>
                  </a:ext>
                </a:extLst>
              </a:tr>
              <a:tr h="580566">
                <a:tc>
                  <a:txBody>
                    <a:bodyPr/>
                    <a:lstStyle/>
                    <a:p>
                      <a:r>
                        <a:rPr lang="en-IN" sz="2400" b="1" dirty="0"/>
                        <a:t>Base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Category/component criticality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916049"/>
                  </a:ext>
                </a:extLst>
              </a:tr>
              <a:tr h="828428">
                <a:tc>
                  <a:txBody>
                    <a:bodyPr/>
                    <a:lstStyle/>
                    <a:p>
                      <a:r>
                        <a:rPr lang="en-IN" sz="2400" b="1" dirty="0"/>
                        <a:t>Geopolitical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Is the supplier's country, or its upstream/ownership chain, tied to the active crisis?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92612"/>
                  </a:ext>
                </a:extLst>
              </a:tr>
              <a:tr h="576861">
                <a:tc>
                  <a:txBody>
                    <a:bodyPr/>
                    <a:lstStyle/>
                    <a:p>
                      <a:r>
                        <a:rPr lang="en-IN" sz="2400" b="1" dirty="0"/>
                        <a:t>Ownership Risk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Ownership stake from ownership.csv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19616"/>
                  </a:ext>
                </a:extLst>
              </a:tr>
              <a:tr h="1612119">
                <a:tc>
                  <a:txBody>
                    <a:bodyPr/>
                    <a:lstStyle/>
                    <a:p>
                      <a:r>
                        <a:rPr lang="en-IN" sz="2400" b="1" dirty="0"/>
                        <a:t>Financial Distress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Placeholder hook (</a:t>
                      </a:r>
                      <a:r>
                        <a:rPr lang="en-US" sz="1800" dirty="0" err="1"/>
                        <a:t>financial_distress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 in </a:t>
                      </a:r>
                      <a:r>
                        <a:rPr lang="en-US" sz="1800" dirty="0"/>
                        <a:t>ownership.csv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for future financial-health signals.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= Financially healthy — no distress signals.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= Moderate distress — some financial strain but not existential.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= Severe distress — active red flags: heavy losses.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60548"/>
                  </a:ext>
                </a:extLst>
              </a:tr>
              <a:tr h="828428">
                <a:tc>
                  <a:txBody>
                    <a:bodyPr/>
                    <a:lstStyle/>
                    <a:p>
                      <a:r>
                        <a:rPr lang="en-IN" sz="2400" b="1" dirty="0"/>
                        <a:t>Concentration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Is this supplier the </a:t>
                      </a:r>
                      <a:r>
                        <a:rPr lang="en-US" sz="1800" i="1" dirty="0"/>
                        <a:t>only</a:t>
                      </a:r>
                      <a:r>
                        <a:rPr lang="en-US" sz="1800" dirty="0"/>
                        <a:t> source for that vehicle/component — a single point of failure?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175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59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01FFA-77D1-4372-B273-0D4C7A63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Supplier Readiness Scoring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6D3E-FB67-412A-B602-3833AFC53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Readiness Score = Capability Match     (0–30)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+ Country Risk Bonus    (0–25)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+ Capacity Signal      (0–20)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+ Lead-Time Score       (0–15)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+ Existing Relationship (0–10)</a:t>
            </a:r>
          </a:p>
          <a:p>
            <a:pPr marL="45720" indent="0">
              <a:buNone/>
            </a:pPr>
            <a:r>
              <a:rPr lang="en-IN" dirty="0">
                <a:solidFill>
                  <a:srgbClr val="FF0000"/>
                </a:solidFill>
              </a:rPr>
              <a:t>→ ( capped at 100 )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646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C55C53-7A25-4C6F-B86C-55004A32A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512137"/>
              </p:ext>
            </p:extLst>
          </p:nvPr>
        </p:nvGraphicFramePr>
        <p:xfrm>
          <a:off x="749508" y="464694"/>
          <a:ext cx="10672997" cy="5342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00">
                  <a:extLst>
                    <a:ext uri="{9D8B030D-6E8A-4147-A177-3AD203B41FA5}">
                      <a16:colId xmlns:a16="http://schemas.microsoft.com/office/drawing/2014/main" val="2155383919"/>
                    </a:ext>
                  </a:extLst>
                </a:gridCol>
                <a:gridCol w="6886297">
                  <a:extLst>
                    <a:ext uri="{9D8B030D-6E8A-4147-A177-3AD203B41FA5}">
                      <a16:colId xmlns:a16="http://schemas.microsoft.com/office/drawing/2014/main" val="4045084809"/>
                    </a:ext>
                  </a:extLst>
                </a:gridCol>
              </a:tblGrid>
              <a:tr h="567576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 IT REPRESENTS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515516"/>
                  </a:ext>
                </a:extLst>
              </a:tr>
              <a:tr h="1398443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Capability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Exact match between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 category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 Indian alternates csv and the at-risk supplier’s component/category → 30.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Partial keyword match &gt; 15.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Category-only match &gt; 5.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14168"/>
                  </a:ext>
                </a:extLst>
              </a:tr>
              <a:tr h="109485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Country Risk 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Alternate’s country = India → 25.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Allied/neutral country → 10–15.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country as the crisis-hit supplier → 0.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964139"/>
                  </a:ext>
                </a:extLst>
              </a:tr>
              <a:tr h="737579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Capacity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Alternate supplier's production volume and manufacturing capability.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763625"/>
                  </a:ext>
                </a:extLst>
              </a:tr>
              <a:tr h="766523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Lead-Time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Operational delay and efficiency involved in onboarding and receiving parts from an alternate supplier compared to the original one.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8465"/>
                  </a:ext>
                </a:extLst>
              </a:tr>
              <a:tr h="777569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Existing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alternate already supplies a different component in the same vehicle program → 10 (faster onboarding, known vendor). Else 0.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68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76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022B4-E47D-4B45-86CB-72D83233E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Graph Plots &amp;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41D6F0-D48D-4819-98DF-F95907DA1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" b="55810"/>
          <a:stretch/>
        </p:blipFill>
        <p:spPr>
          <a:xfrm>
            <a:off x="460702" y="1557865"/>
            <a:ext cx="5635298" cy="491913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315FB7-5C08-461B-A577-7090FD1A91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45845" r="1062" b="2"/>
          <a:stretch/>
        </p:blipFill>
        <p:spPr>
          <a:xfrm>
            <a:off x="6175587" y="1557865"/>
            <a:ext cx="5635298" cy="491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72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F320D9-7C7D-400E-8FEF-56A7AE3262D6}"/>
              </a:ext>
            </a:extLst>
          </p:cNvPr>
          <p:cNvSpPr txBox="1"/>
          <p:nvPr/>
        </p:nvSpPr>
        <p:spPr>
          <a:xfrm>
            <a:off x="530192" y="3876675"/>
            <a:ext cx="102648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three-path exposure detection filters suppliers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render_dashboard</a:t>
            </a:r>
            <a:r>
              <a:rPr lang="en-US" sz="2400" dirty="0"/>
              <a:t>() builds a </a:t>
            </a:r>
            <a:r>
              <a:rPr lang="en-US" sz="2400" dirty="0" err="1"/>
              <a:t>Plotly</a:t>
            </a:r>
            <a:r>
              <a:rPr lang="en-US" sz="2400" dirty="0"/>
              <a:t> subplot figure (KPI band, risk bar chart, supplier table, ownership table, alternates table) plus an HTML KPI banner.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Output as both a live widget and a static embedded HTML fallback, and dumped to </a:t>
            </a:r>
            <a:r>
              <a:rPr lang="en-US" sz="2400" dirty="0" err="1"/>
              <a:t>dashboard_output.json</a:t>
            </a:r>
            <a:r>
              <a:rPr lang="en-US" sz="2400" dirty="0"/>
              <a:t>. </a:t>
            </a: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E5893-46E5-47C9-845A-773DF7C54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6" y="419050"/>
            <a:ext cx="11371007" cy="33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4445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1819</TotalTime>
  <Words>703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Basis</vt:lpstr>
      <vt:lpstr>AI BASED SUPPLY  CHAIN MAPPING</vt:lpstr>
      <vt:lpstr>The Problem</vt:lpstr>
      <vt:lpstr>System Execution</vt:lpstr>
      <vt:lpstr>Data Model</vt:lpstr>
      <vt:lpstr>Three-Path Crisis Exposure Detection</vt:lpstr>
      <vt:lpstr>Supplier Risk Scoring</vt:lpstr>
      <vt:lpstr>PowerPoint Presentation</vt:lpstr>
      <vt:lpstr>Alternate Supplier Readiness Scoring</vt:lpstr>
      <vt:lpstr>PowerPoint Presentation</vt:lpstr>
      <vt:lpstr>The Graph Plots &amp; 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SUPPLY  CHAIN MAPPING</dc:title>
  <dc:creator>lenovo</dc:creator>
  <cp:lastModifiedBy>lenovo</cp:lastModifiedBy>
  <cp:revision>20</cp:revision>
  <dcterms:created xsi:type="dcterms:W3CDTF">2026-06-08T10:39:27Z</dcterms:created>
  <dcterms:modified xsi:type="dcterms:W3CDTF">2026-07-07T06:57:32Z</dcterms:modified>
</cp:coreProperties>
</file>